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9" r:id="rId5"/>
    <p:sldId id="263" r:id="rId6"/>
    <p:sldId id="264" r:id="rId7"/>
    <p:sldId id="262" r:id="rId8"/>
    <p:sldId id="266" r:id="rId9"/>
    <p:sldId id="265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864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85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340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024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588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13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65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501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66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47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641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944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997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307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513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528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7394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81976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187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109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409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0939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4424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7848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2328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6005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414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2F90-F3D3-E3FD-0DC7-59ABED818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C32F1-EA3E-513A-E697-F4B0DA3F6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13CE-0489-FBFA-CE41-FF5C15C2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8271B-B534-20F6-4B08-B9F756122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7AED5-1D75-0159-453B-D6E41760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15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2BBF95E9-3706-4C2B-A28A-92DC952CE0B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77C79E37-AC64-42AC-A837-993C4E9265CE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68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80C20-4F75-93FB-1CE8-CFC3E2F4A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1564"/>
            <a:ext cx="9144000" cy="330879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Attendance and Academic Performance: A Statistical Analysis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9A2CB-2757-A889-963B-3EF6C2F165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Aditya </a:t>
            </a:r>
            <a:r>
              <a:rPr lang="en-IN" dirty="0" err="1"/>
              <a:t>Teraiya</a:t>
            </a:r>
            <a:r>
              <a:rPr lang="en-IN" dirty="0"/>
              <a:t> and Raj Gehlot</a:t>
            </a:r>
          </a:p>
        </p:txBody>
      </p:sp>
    </p:spTree>
    <p:extLst>
      <p:ext uri="{BB962C8B-B14F-4D97-AF65-F5344CB8AC3E}">
        <p14:creationId xmlns:p14="http://schemas.microsoft.com/office/powerpoint/2010/main" val="369526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EC30-C7C6-A4E9-6FB5-2FF670A2F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Rough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9FDA4-147D-432C-A45E-C53A953A5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Read student attendance and marks from a CSV file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And displays results such as statistics(mean, deviation, etc), tests(p-tests, t-statistic), and graphs(histogram, correlation, etc).</a:t>
            </a:r>
          </a:p>
          <a:p>
            <a:endParaRPr lang="en-I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 err="1"/>
              <a:t>Analyzes</a:t>
            </a:r>
            <a:r>
              <a:rPr lang="en-IN" sz="3600" dirty="0"/>
              <a:t> how they relate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79757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81DB-E354-54AF-8AA9-B85A4AEA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(Synthetic data) every Quiz </a:t>
            </a:r>
            <a:r>
              <a:rPr lang="en-IN" sz="2000" dirty="0" err="1"/>
              <a:t>avg</a:t>
            </a:r>
            <a:r>
              <a:rPr lang="en-IN" sz="2000" dirty="0"/>
              <a:t> and </a:t>
            </a:r>
            <a:r>
              <a:rPr lang="en-IN" sz="2000" dirty="0" err="1"/>
              <a:t>midsem</a:t>
            </a:r>
            <a:r>
              <a:rPr lang="en-IN" sz="2000" dirty="0"/>
              <a:t> score are out of 100 and </a:t>
            </a:r>
            <a:r>
              <a:rPr lang="en-IN" sz="2000" b="1" dirty="0"/>
              <a:t>61 entries.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328D90-093F-F78E-952D-C21B9E024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021008"/>
              </p:ext>
            </p:extLst>
          </p:nvPr>
        </p:nvGraphicFramePr>
        <p:xfrm>
          <a:off x="1353312" y="1819656"/>
          <a:ext cx="8247888" cy="36559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1972">
                  <a:extLst>
                    <a:ext uri="{9D8B030D-6E8A-4147-A177-3AD203B41FA5}">
                      <a16:colId xmlns:a16="http://schemas.microsoft.com/office/drawing/2014/main" val="3148105691"/>
                    </a:ext>
                  </a:extLst>
                </a:gridCol>
                <a:gridCol w="2061972">
                  <a:extLst>
                    <a:ext uri="{9D8B030D-6E8A-4147-A177-3AD203B41FA5}">
                      <a16:colId xmlns:a16="http://schemas.microsoft.com/office/drawing/2014/main" val="2619021747"/>
                    </a:ext>
                  </a:extLst>
                </a:gridCol>
                <a:gridCol w="2061972">
                  <a:extLst>
                    <a:ext uri="{9D8B030D-6E8A-4147-A177-3AD203B41FA5}">
                      <a16:colId xmlns:a16="http://schemas.microsoft.com/office/drawing/2014/main" val="1341155795"/>
                    </a:ext>
                  </a:extLst>
                </a:gridCol>
                <a:gridCol w="2061972">
                  <a:extLst>
                    <a:ext uri="{9D8B030D-6E8A-4147-A177-3AD203B41FA5}">
                      <a16:colId xmlns:a16="http://schemas.microsoft.com/office/drawing/2014/main" val="1459798439"/>
                    </a:ext>
                  </a:extLst>
                </a:gridCol>
              </a:tblGrid>
              <a:tr h="6689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id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attendance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midsem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quiz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80094007"/>
                  </a:ext>
                </a:extLst>
              </a:tr>
              <a:tr h="35675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101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57.6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63.4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60.9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2906687"/>
                  </a:ext>
                </a:extLst>
              </a:tr>
              <a:tr h="35675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102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68.3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57.2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50.6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29444382"/>
                  </a:ext>
                </a:extLst>
              </a:tr>
              <a:tr h="35675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103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83.2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87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49.1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01969047"/>
                  </a:ext>
                </a:extLst>
              </a:tr>
              <a:tr h="35675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104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56.6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65.3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56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33895940"/>
                  </a:ext>
                </a:extLst>
              </a:tr>
              <a:tr h="35675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105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99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97.2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65.6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98258362"/>
                  </a:ext>
                </a:extLst>
              </a:tr>
              <a:tr h="35675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106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71.9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90.9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57.4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60885181"/>
                  </a:ext>
                </a:extLst>
              </a:tr>
              <a:tr h="35675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107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64.2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55.9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51.2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35266003"/>
                  </a:ext>
                </a:extLst>
              </a:tr>
              <a:tr h="35675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108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78.2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72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56.1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2300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44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3F15-39CD-351E-B82E-D0102077B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891456" cy="1858941"/>
          </a:xfrm>
        </p:spPr>
        <p:txBody>
          <a:bodyPr/>
          <a:lstStyle/>
          <a:p>
            <a:r>
              <a:rPr lang="en-IN" dirty="0"/>
              <a:t>Flowchart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E9DDC-692C-E113-6B50-E9593BE51BD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B754D6F-BC30-B988-23C2-32ECD2F7250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51" r="151"/>
          <a:stretch/>
        </p:blipFill>
        <p:spPr>
          <a:xfrm>
            <a:off x="255341" y="210312"/>
            <a:ext cx="7871150" cy="648309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351440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E64088-7D85-D989-DEA0-703A6D55EF0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456248" y="652183"/>
                <a:ext cx="3549824" cy="1858941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E64088-7D85-D989-DEA0-703A6D55EF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456248" y="652183"/>
                <a:ext cx="3549824" cy="185894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0CD9103-79AA-756D-8532-568BCE13766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69" r="5269"/>
          <a:stretch>
            <a:fillRect/>
          </a:stretch>
        </p:blipFill>
        <p:spPr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21E4B-AEE7-1C26-08A5-8D513F8541B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43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BD847D0-5498-87C1-D629-D21C91586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6828" y="1953589"/>
            <a:ext cx="11430000" cy="3714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34DC73-D20E-0DF9-47CF-0867BFB550FC}"/>
              </a:ext>
            </a:extLst>
          </p:cNvPr>
          <p:cNvSpPr txBox="1"/>
          <p:nvPr/>
        </p:nvSpPr>
        <p:spPr>
          <a:xfrm>
            <a:off x="81023" y="0"/>
            <a:ext cx="48419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b="1" dirty="0"/>
              <a:t>HISTOGRAM</a:t>
            </a:r>
          </a:p>
        </p:txBody>
      </p:sp>
    </p:spTree>
    <p:extLst>
      <p:ext uri="{BB962C8B-B14F-4D97-AF65-F5344CB8AC3E}">
        <p14:creationId xmlns:p14="http://schemas.microsoft.com/office/powerpoint/2010/main" val="3180353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05200C-26FC-950C-1FF9-D41C0EDE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13122AB-25A1-C977-F697-8AFC4C2C81F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57" r="857"/>
          <a:stretch>
            <a:fillRect/>
          </a:stretch>
        </p:blipFill>
        <p:spPr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6AA70A-6036-0A49-EA15-7144E275EC5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IN" dirty="0"/>
              <a:t>Note: Everything is a shade of red</a:t>
            </a:r>
          </a:p>
        </p:txBody>
      </p:sp>
    </p:spTree>
    <p:extLst>
      <p:ext uri="{BB962C8B-B14F-4D97-AF65-F5344CB8AC3E}">
        <p14:creationId xmlns:p14="http://schemas.microsoft.com/office/powerpoint/2010/main" val="2946502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09C0F-1195-D75A-F749-0E47616700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sz="5400" dirty="0"/>
              <a:t>LINEAR REGRESSION(PREDICTION)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97BF24-DB94-44D0-962D-7CB23D029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79" y="1225433"/>
            <a:ext cx="9997441" cy="554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9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89836B-DE93-FB49-D99B-B04143EF4B73}"/>
              </a:ext>
            </a:extLst>
          </p:cNvPr>
          <p:cNvSpPr txBox="1"/>
          <p:nvPr/>
        </p:nvSpPr>
        <p:spPr>
          <a:xfrm>
            <a:off x="225513" y="1012954"/>
            <a:ext cx="1227128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We found a positive strong relationship between attendance and marks, with Pearson’s </a:t>
            </a:r>
            <a:r>
              <a:rPr lang="en-IN" sz="4400" i="1" dirty="0"/>
              <a:t>r</a:t>
            </a:r>
            <a:r>
              <a:rPr lang="en-IN" sz="4400" dirty="0"/>
              <a:t> of 0.77. </a:t>
            </a:r>
          </a:p>
          <a:p>
            <a:r>
              <a:rPr lang="en-IN" sz="4400" dirty="0"/>
              <a:t>The p-value was 0.0019, so this result was statistically significant at the five-percent level. The regression’s R=r-squared was 0.59 meaning the fitted linear relationship accounted for about 60% of the </a:t>
            </a:r>
          </a:p>
          <a:p>
            <a:r>
              <a:rPr lang="en-IN" sz="4400" dirty="0"/>
              <a:t>variation in marks in this dataset. </a:t>
            </a:r>
          </a:p>
        </p:txBody>
      </p:sp>
    </p:spTree>
    <p:extLst>
      <p:ext uri="{BB962C8B-B14F-4D97-AF65-F5344CB8AC3E}">
        <p14:creationId xmlns:p14="http://schemas.microsoft.com/office/powerpoint/2010/main" val="371219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8A62E-FE95-D900-0674-DABDE73D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 in simple terms, don’t miss class.</a:t>
            </a:r>
          </a:p>
        </p:txBody>
      </p:sp>
    </p:spTree>
    <p:extLst>
      <p:ext uri="{BB962C8B-B14F-4D97-AF65-F5344CB8AC3E}">
        <p14:creationId xmlns:p14="http://schemas.microsoft.com/office/powerpoint/2010/main" val="139245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A775-0E39-197A-6217-29141C251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86717792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630</TotalTime>
  <Words>199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Felix Titling</vt:lpstr>
      <vt:lpstr>Goudy Old Style</vt:lpstr>
      <vt:lpstr>Archway</vt:lpstr>
      <vt:lpstr>Attendance and Academic Performance: A Statistical Analysis  </vt:lpstr>
      <vt:lpstr>Rough idea</vt:lpstr>
      <vt:lpstr>(Synthetic data) every Quiz avg and midsem score are out of 100 and 61 entries.</vt:lpstr>
      <vt:lpstr>Flowchart </vt:lpstr>
      <vt:lpstr>(∑(x-x ̅ )∑(y-y ̅ ))/√((x-x ̅ )^2 (y-y ̅ )^2 )</vt:lpstr>
      <vt:lpstr>PowerPoint Presentation</vt:lpstr>
      <vt:lpstr>PowerPoint Presentation</vt:lpstr>
      <vt:lpstr>PowerPoint Presentation</vt:lpstr>
      <vt:lpstr>PowerPoint Presentation</vt:lpstr>
      <vt:lpstr>Or in simple terms, don’t miss class.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π</dc:creator>
  <cp:lastModifiedBy>Mr. π</cp:lastModifiedBy>
  <cp:revision>3</cp:revision>
  <dcterms:created xsi:type="dcterms:W3CDTF">2026-10-28T14:45:06Z</dcterms:created>
  <dcterms:modified xsi:type="dcterms:W3CDTF">2026-10-29T04:58:48Z</dcterms:modified>
</cp:coreProperties>
</file>